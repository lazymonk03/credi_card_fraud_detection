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20"/>
    <p:restoredTop sz="94692"/>
  </p:normalViewPr>
  <p:slideViewPr>
    <p:cSldViewPr snapToGrid="0" snapToObjects="1">
      <p:cViewPr>
        <p:scale>
          <a:sx n="90" d="100"/>
          <a:sy n="90" d="100"/>
        </p:scale>
        <p:origin x="216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tx2"/>
                </a:solidFill>
              </a:rPr>
              <a:t>Credit Card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600">
                <a:solidFill>
                  <a:schemeClr val="tx2"/>
                </a:solidFill>
              </a:rPr>
              <a:t>End-to-End Analytics, Machine Learning &amp; Explainable AI</a:t>
            </a:r>
          </a:p>
          <a:p>
            <a:pPr algn="l">
              <a:lnSpc>
                <a:spcPct val="90000"/>
              </a:lnSpc>
            </a:pPr>
            <a:r>
              <a:rPr lang="en-US" sz="1600">
                <a:solidFill>
                  <a:schemeClr val="tx2"/>
                </a:solidFill>
              </a:rPr>
              <a:t>Consulting Case Study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Credit card">
            <a:extLst>
              <a:ext uri="{FF2B5EF4-FFF2-40B4-BE49-F238E27FC236}">
                <a16:creationId xmlns:a16="http://schemas.microsoft.com/office/drawing/2014/main" id="{0415E770-A8E0-2CEF-3A94-776C10A19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Designed an enterprise-grade fraud detection solution for financial services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Balanced fraud detection accuracy with customer experience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Implemented Explainable AI to support trust and regulatory compliance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Delivered executive and operational dashboards using Power BI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Credit card fraud causes direct financial losses and reputational damage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High false positives lead to poor customer experience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Regulators require transparency in automated decision-making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Need for scalable, explainable, and actionable fraud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Accurately identify fraudulent transactions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Prioritize high-risk cases for investigation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Explain model decisions to non-technical stakeholders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Enable executive and operational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Highly imbalanced credit card transaction dataset (&lt;1% fraud)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Anonymized behavioral features (PCA components)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Transaction amount and time features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Binary fraud classification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Analytics &amp; ML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Baseline model: Logistic Regression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Advanced models: Random Forest, </a:t>
            </a:r>
            <a:r>
              <a:rPr lang="en-US" sz="1600" dirty="0" err="1">
                <a:solidFill>
                  <a:schemeClr val="tx2"/>
                </a:solidFill>
              </a:rPr>
              <a:t>XGBoost</a:t>
            </a:r>
            <a:endParaRPr lang="en-US" sz="1600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Evaluation focused on Recall, Precision, F1, ROC-AUC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Random Forest selected for optimal balance of performance and explainability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Explainable AI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Applied SHAP to interpret model predictions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Identified key drivers influencing fraud risk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Enabled transparency and auditability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Aligned with Responsible AI principles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Dashboard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Built entirely using Power BI Service (Web)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All KPIs and risk logic pre-computed in Python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Designed separate views for executives, operations, and compliance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Interactive drill-down for investigation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Operational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Executive overview of fraud exposure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High-risk transaction analysis with conditional formatting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Customer-level drill-down for root-cause analysis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Merchant and risk-segment prioritization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Model Explainability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Top fraud drivers ranked using SHAP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Clear business interpretation of model behavior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Supports compliance and governance requirements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Builds stakeholder trust in automated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Improved prioritization of high-risk fraud cases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Reduced analyst effort through visual triage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Enhanced transparency and regulatory readiness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Enterprise-ready analytics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Fraud analytics must balance accuracy, explainability, and actionability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Explainable AI is critical for financial services adoption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Tool constraints can be addressed with thoughtful design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2"/>
                </a:solidFill>
              </a:rPr>
              <a:t>End-to-end ownership drives real business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98479"/>
            <a:ext cx="259186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Fraud Monitoring Dashboard –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5" y="1803637"/>
            <a:ext cx="259186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(Page 1: KPIs, Risk Distribution, Fraud Overview)</a:t>
            </a:r>
          </a:p>
        </p:txBody>
      </p:sp>
      <p:pic>
        <p:nvPicPr>
          <p:cNvPr id="6" name="Picture 5" descr="A screenshot of a credit card fraud monitoring&#10;&#10;AI-generated content may be incorrect.">
            <a:extLst>
              <a:ext uri="{FF2B5EF4-FFF2-40B4-BE49-F238E27FC236}">
                <a16:creationId xmlns:a16="http://schemas.microsoft.com/office/drawing/2014/main" id="{0FDEF7B7-5B1F-C450-72C3-39A809CB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386" y="942976"/>
            <a:ext cx="5680302" cy="471487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10A4D-7502-AA98-861C-530A200D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74976-0D16-13AF-6B89-41E8B3045B93}"/>
              </a:ext>
            </a:extLst>
          </p:cNvPr>
          <p:cNvSpPr txBox="1"/>
          <p:nvPr/>
        </p:nvSpPr>
        <p:spPr>
          <a:xfrm>
            <a:off x="0" y="669954"/>
            <a:ext cx="259186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800" b="1" dirty="0">
                <a:solidFill>
                  <a:schemeClr val="tx2"/>
                </a:solidFill>
              </a:rPr>
              <a:t>Fraud Monitoring Dashboard – Risk Analysis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8122F-C521-A8FF-818F-AA049B932CA0}"/>
              </a:ext>
            </a:extLst>
          </p:cNvPr>
          <p:cNvSpPr txBox="1"/>
          <p:nvPr/>
        </p:nvSpPr>
        <p:spPr>
          <a:xfrm>
            <a:off x="0" y="1702506"/>
            <a:ext cx="2132773" cy="2195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(Page 2: High-Risk Transactions, Conditional Formatting, Slicers)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A37495-32DF-1BC2-A138-109404040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C212AC-6934-454B-D8E3-00F6B0474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207FA73-E539-A030-8342-9FE4938D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9743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19E21-189D-FFB3-8E4B-0F17A7F4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ED464-4EA7-038B-E26D-C90A2AC100F2}"/>
              </a:ext>
            </a:extLst>
          </p:cNvPr>
          <p:cNvSpPr txBox="1"/>
          <p:nvPr/>
        </p:nvSpPr>
        <p:spPr>
          <a:xfrm>
            <a:off x="0" y="669954"/>
            <a:ext cx="259186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800" b="1" dirty="0">
                <a:solidFill>
                  <a:schemeClr val="tx2"/>
                </a:solidFill>
              </a:rPr>
              <a:t>Fraud Monitoring Dashboard – Customer Drill-Down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A05DD-9F8E-3B51-26EF-EFFCBD72E421}"/>
              </a:ext>
            </a:extLst>
          </p:cNvPr>
          <p:cNvSpPr txBox="1"/>
          <p:nvPr/>
        </p:nvSpPr>
        <p:spPr>
          <a:xfrm>
            <a:off x="0" y="1912047"/>
            <a:ext cx="1996696" cy="2195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(Page 3: Customer → Risk → Merchant Drill-Down)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A86DEC9-5EFB-C1DA-AAF5-26FB97AE5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E2802D7-D752-E97F-9EC1-9777F9C8D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5CD77D1-1F18-8CC8-4FD4-9CE9CEC7E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357183-2AC0-21EC-4A8B-77C0AF9E9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13" y="914400"/>
            <a:ext cx="6286500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17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17353-2143-CD8F-88FF-21A97010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BFE3D-7936-69E6-B83A-E247F206FB55}"/>
              </a:ext>
            </a:extLst>
          </p:cNvPr>
          <p:cNvSpPr txBox="1"/>
          <p:nvPr/>
        </p:nvSpPr>
        <p:spPr>
          <a:xfrm>
            <a:off x="0" y="669954"/>
            <a:ext cx="2591866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2800" b="1" dirty="0">
                <a:solidFill>
                  <a:schemeClr val="tx2"/>
                </a:solidFill>
              </a:rPr>
              <a:t>Model Explainability Dashboard (SHAP)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8EB80-F8D5-39CF-CE69-B4806D812A73}"/>
              </a:ext>
            </a:extLst>
          </p:cNvPr>
          <p:cNvSpPr txBox="1"/>
          <p:nvPr/>
        </p:nvSpPr>
        <p:spPr>
          <a:xfrm>
            <a:off x="0" y="1747741"/>
            <a:ext cx="1991136" cy="2195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(Top Fraud Drivers, SHAP Feature Importance)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63066B-D0C7-90D1-B211-141B63B3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1AE2A31-DEA5-5466-2D1A-122404E82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727A0A9-6125-DE2B-2F05-BA79E4905E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2FF1434-19C5-80B3-2F62-D4FCDB41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164" y="985837"/>
            <a:ext cx="6516638" cy="4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71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406</Words>
  <Application>Microsoft Macintosh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Credit Card Fraud Detection</vt:lpstr>
      <vt:lpstr>Executive Summary</vt:lpstr>
      <vt:lpstr>Business Problem</vt:lpstr>
      <vt:lpstr>Project Objectives</vt:lpstr>
      <vt:lpstr>Data Overview</vt:lpstr>
      <vt:lpstr>Analytics &amp; ML Approach</vt:lpstr>
      <vt:lpstr>Explainable AI (SHAP)</vt:lpstr>
      <vt:lpstr>Dashboard Strategy</vt:lpstr>
      <vt:lpstr>Operational Dashboard Highlights</vt:lpstr>
      <vt:lpstr>Model Explainability Dashboard</vt:lpstr>
      <vt:lpstr>Business Impact</vt:lpstr>
      <vt:lpstr>Key Takeaways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 jeet</cp:lastModifiedBy>
  <cp:revision>3</cp:revision>
  <dcterms:created xsi:type="dcterms:W3CDTF">2013-01-27T09:14:16Z</dcterms:created>
  <dcterms:modified xsi:type="dcterms:W3CDTF">2026-01-15T11:01:29Z</dcterms:modified>
  <cp:category/>
</cp:coreProperties>
</file>